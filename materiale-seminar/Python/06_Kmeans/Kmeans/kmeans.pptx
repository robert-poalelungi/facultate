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>
        <p:scale>
          <a:sx n="66" d="100"/>
          <a:sy n="66" d="100"/>
        </p:scale>
        <p:origin x="677" y="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21508A0-F44F-B9E6-DB51-DAE9F78DE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0D71B9B-DE86-6B18-880E-226519A21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0264485A-49BB-1BA2-3DC6-528BF8681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2E1D-C302-4F56-B6B6-31B27AC3A341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EAEB56-1DD2-EE05-E532-CB69092A1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89D69E6E-F979-3066-ADE7-D47466FE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2F73-1AFC-422D-AAB0-B6B30FD4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34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220DF89-BFFD-FDDB-BEB3-ED7DBDE6D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2BE0717-08B2-8C1A-E91F-50802EC60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2CF6A57-D815-6E16-BCFA-00F10B2C6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2E1D-C302-4F56-B6B6-31B27AC3A341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EA5A244-5CE0-22E0-41C1-559054B2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4690182-53BF-F3BD-2EB2-FE17001CB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2F73-1AFC-422D-AAB0-B6B30FD4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8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7B39B9C-B309-FF41-73F4-23B6E68F8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772227DC-A8A0-AA35-54E4-2BFFFDB03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3F7D9827-1A44-252C-4438-EFB00D8B8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2E1D-C302-4F56-B6B6-31B27AC3A341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0A8F8FC4-065B-4874-C636-32D76C730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6EF81CEB-E00C-2EF3-F788-059489EC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2F73-1AFC-422D-AAB0-B6B30FD4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532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FEFF674-4D9C-31D2-2925-937FC033D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B4EBD553-7EB6-00EA-9969-4EC37C5DEC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73D0997-CF47-1AAD-919E-FF8BE97EB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C3A6AB0-D760-267A-3F6C-DCACC2117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2E1D-C302-4F56-B6B6-31B27AC3A341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808EC331-3D2C-D6BD-9F6B-09483A349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1C5E4F08-52C4-686D-1536-D28EB4115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2F73-1AFC-422D-AAB0-B6B30FD4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64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D178FED-D066-B459-012F-21505098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C9A474A-141B-2173-6EED-D9FF63714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C7BA730D-67B6-76D7-2326-AA70FB2DC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A6106FF8-1095-1387-7F4F-7137D0BE22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28B8BF23-7205-303C-2847-4E4B6C90D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D08F87F9-DD88-0289-1149-3854DADC5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2E1D-C302-4F56-B6B6-31B27AC3A341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634C4F1A-DFE1-A0CC-2471-40FEB6254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5D46D83A-3A17-95A4-FF4A-1EEE7195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2F73-1AFC-422D-AAB0-B6B30FD4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10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EE21EA2-CC26-FB3C-2862-AE0659359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D8E0C87D-F379-0A18-65F6-98180D95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2E1D-C302-4F56-B6B6-31B27AC3A341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73C50515-C421-AE6F-53F3-EB662DD44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774A92DA-44ED-2077-F543-8AA26001D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2F73-1AFC-422D-AAB0-B6B30FD4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3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40631175-EEA4-70DF-4A5C-EE6BB142E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2E1D-C302-4F56-B6B6-31B27AC3A341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25B255D0-E973-470C-56D7-556C1B1B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F70B7E92-898D-8BDD-41C5-B8B69BACA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2F73-1AFC-422D-AAB0-B6B30FD4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2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A7E4BA6-0B3E-6262-AA29-6540290D1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8BC1756-B33F-AAD6-6372-571DD72C3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A945E888-1A8A-3C46-6A11-F7E60B843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BE733487-200B-E10F-756E-411805EEE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2E1D-C302-4F56-B6B6-31B27AC3A341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67570900-82A7-F8A5-07DC-20733CAF1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40D09E2B-5E75-C08D-5A85-EED4FF89E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2F73-1AFC-422D-AAB0-B6B30FD4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9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52679EA-374F-6CC1-DE95-09890FCAB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5B09E2A5-712C-31F3-8152-85448E638D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5B681D55-C817-E7DF-9EE2-D3A45F81E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C6381B81-356F-A860-633F-013DA3492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2E1D-C302-4F56-B6B6-31B27AC3A341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4534BEA6-BB7D-43DB-AE1B-06321304F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1B4892C6-C0CD-0805-3443-B3A4B3CC7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2F73-1AFC-422D-AAB0-B6B30FD4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161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928621D-3A1A-088E-2FB3-5E2F5980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B3AAF8CC-24EF-3A32-A88C-1A465278B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B558B44-DCD4-FEC8-84EC-4492EB3CF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2E1D-C302-4F56-B6B6-31B27AC3A341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151F541-0205-DED4-2472-8495F71A9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8D9B902-6D2D-1148-85BB-2186D7FD2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2F73-1AFC-422D-AAB0-B6B30FD4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35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A0C9237C-FECB-B317-8D03-FC554A5CF9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BB098990-386E-6AAB-4B74-127BD5F88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DA1718D-9CBF-FD1C-151C-2EFBF45D3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2E1D-C302-4F56-B6B6-31B27AC3A341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D8E2FA30-9E6C-22B6-1112-1AF4DCE6F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E5158817-83E4-F577-010C-2F462A1C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2F73-1AFC-422D-AAB0-B6B30FD4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65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10291880-938B-D2B1-43F0-3C55E320B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1A2D970E-6DEA-5971-CFE5-FDFEAC0C2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13F35F00-AA97-887F-1369-2DFF66650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12E1D-C302-4F56-B6B6-31B27AC3A341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B4D30BA9-72CD-6313-B0E7-B10DB97488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0D121E42-4252-5F0E-ED3D-08B37C697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FB2F73-1AFC-422D-AAB0-B6B30FD4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3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A6A8941-2F71-1B31-8E56-1ACAFD6148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CD21FA4D-BE31-E48D-9C48-5B11E98448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90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1638D55-85FA-7DBA-86D3-4490D56BB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4919015-E12E-B31A-D170-294B5F441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K-means clustering </a:t>
            </a:r>
            <a:r>
              <a:rPr lang="en-US" dirty="0" err="1"/>
              <a:t>este</a:t>
            </a:r>
            <a:r>
              <a:rPr lang="en-US" dirty="0"/>
              <a:t> un tip de </a:t>
            </a:r>
            <a:r>
              <a:rPr lang="en-US" dirty="0" err="1"/>
              <a:t>învățare</a:t>
            </a:r>
            <a:r>
              <a:rPr lang="en-US" dirty="0"/>
              <a:t> </a:t>
            </a:r>
            <a:r>
              <a:rPr lang="en-US" dirty="0" err="1"/>
              <a:t>nesupervizată</a:t>
            </a:r>
            <a:r>
              <a:rPr lang="en-US" dirty="0"/>
              <a:t>, </a:t>
            </a:r>
            <a:r>
              <a:rPr lang="en-US" dirty="0" err="1"/>
              <a:t>utilizat</a:t>
            </a:r>
            <a:r>
              <a:rPr lang="en-US" dirty="0"/>
              <a:t> </a:t>
            </a:r>
            <a:r>
              <a:rPr lang="en-US" dirty="0" err="1"/>
              <a:t>când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sunt </a:t>
            </a:r>
            <a:r>
              <a:rPr lang="en-US" dirty="0" err="1"/>
              <a:t>neetichetate</a:t>
            </a:r>
            <a:r>
              <a:rPr lang="en-US" dirty="0"/>
              <a:t> (</a:t>
            </a:r>
            <a:r>
              <a:rPr lang="en-US" dirty="0" err="1"/>
              <a:t>adică</a:t>
            </a:r>
            <a:r>
              <a:rPr lang="en-US" dirty="0"/>
              <a:t>, date </a:t>
            </a:r>
            <a:r>
              <a:rPr lang="en-US" dirty="0" err="1"/>
              <a:t>fără</a:t>
            </a:r>
            <a:r>
              <a:rPr lang="en-US" dirty="0"/>
              <a:t> </a:t>
            </a:r>
            <a:r>
              <a:rPr lang="en-US" dirty="0" err="1"/>
              <a:t>categorii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grupuri</a:t>
            </a:r>
            <a:r>
              <a:rPr lang="en-US" dirty="0"/>
              <a:t> definite). </a:t>
            </a:r>
          </a:p>
          <a:p>
            <a:r>
              <a:rPr lang="en-US" dirty="0" err="1"/>
              <a:t>Scopul</a:t>
            </a:r>
            <a:r>
              <a:rPr lang="en-US" dirty="0"/>
              <a:t> </a:t>
            </a:r>
            <a:r>
              <a:rPr lang="en-US" dirty="0" err="1"/>
              <a:t>acestui</a:t>
            </a:r>
            <a:r>
              <a:rPr lang="en-US" dirty="0"/>
              <a:t> </a:t>
            </a:r>
            <a:r>
              <a:rPr lang="en-US" dirty="0" err="1"/>
              <a:t>algoritm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de a </a:t>
            </a:r>
            <a:r>
              <a:rPr lang="en-US" dirty="0" err="1"/>
              <a:t>găsi</a:t>
            </a:r>
            <a:r>
              <a:rPr lang="en-US" dirty="0"/>
              <a:t> </a:t>
            </a:r>
            <a:r>
              <a:rPr lang="en-US" dirty="0" err="1"/>
              <a:t>grupuri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date, </a:t>
            </a:r>
            <a:r>
              <a:rPr lang="en-US" dirty="0" err="1"/>
              <a:t>numărul</a:t>
            </a:r>
            <a:r>
              <a:rPr lang="en-US" dirty="0"/>
              <a:t> de </a:t>
            </a:r>
            <a:r>
              <a:rPr lang="en-US" dirty="0" err="1"/>
              <a:t>grupuri</a:t>
            </a:r>
            <a:r>
              <a:rPr lang="en-US" dirty="0"/>
              <a:t>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reprezentat</a:t>
            </a:r>
            <a:r>
              <a:rPr lang="en-US" dirty="0"/>
              <a:t> de </a:t>
            </a:r>
            <a:r>
              <a:rPr lang="en-US" dirty="0" err="1"/>
              <a:t>variabila</a:t>
            </a:r>
            <a:r>
              <a:rPr lang="en-US" dirty="0"/>
              <a:t> K.</a:t>
            </a:r>
          </a:p>
          <a:p>
            <a:r>
              <a:rPr lang="en-US" dirty="0"/>
              <a:t> </a:t>
            </a:r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funcționează</a:t>
            </a:r>
            <a:r>
              <a:rPr lang="en-US" dirty="0"/>
              <a:t> </a:t>
            </a:r>
            <a:r>
              <a:rPr lang="en-US" dirty="0" err="1"/>
              <a:t>iterativ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atribui</a:t>
            </a:r>
            <a:r>
              <a:rPr lang="en-US" dirty="0"/>
              <a:t> </a:t>
            </a:r>
            <a:r>
              <a:rPr lang="en-US" dirty="0" err="1"/>
              <a:t>fiecărui</a:t>
            </a:r>
            <a:r>
              <a:rPr lang="en-US" dirty="0"/>
              <a:t> </a:t>
            </a:r>
            <a:r>
              <a:rPr lang="en-US" dirty="0" err="1"/>
              <a:t>punct</a:t>
            </a:r>
            <a:r>
              <a:rPr lang="en-US" dirty="0"/>
              <a:t> de date </a:t>
            </a:r>
            <a:r>
              <a:rPr lang="en-US" dirty="0" err="1"/>
              <a:t>unuia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grupurile</a:t>
            </a:r>
            <a:r>
              <a:rPr lang="en-US" dirty="0"/>
              <a:t> K, pe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caracteristicilor</a:t>
            </a:r>
            <a:r>
              <a:rPr lang="en-US" dirty="0"/>
              <a:t> care sunt </a:t>
            </a:r>
            <a:r>
              <a:rPr lang="en-US" dirty="0" err="1"/>
              <a:t>furnizate</a:t>
            </a:r>
            <a:r>
              <a:rPr lang="en-US" dirty="0"/>
              <a:t>. </a:t>
            </a:r>
          </a:p>
          <a:p>
            <a:r>
              <a:rPr lang="en-US" dirty="0" err="1"/>
              <a:t>Punctele</a:t>
            </a:r>
            <a:r>
              <a:rPr lang="en-US" dirty="0"/>
              <a:t> de date sunt </a:t>
            </a:r>
            <a:r>
              <a:rPr lang="en-US" dirty="0" err="1"/>
              <a:t>grupate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funcție</a:t>
            </a:r>
            <a:r>
              <a:rPr lang="en-US" dirty="0"/>
              <a:t> de </a:t>
            </a:r>
            <a:r>
              <a:rPr lang="en-US" dirty="0" err="1"/>
              <a:t>similitudinea</a:t>
            </a:r>
            <a:r>
              <a:rPr lang="en-US" dirty="0"/>
              <a:t> </a:t>
            </a:r>
            <a:r>
              <a:rPr lang="en-US" dirty="0" err="1"/>
              <a:t>caracteristicilor</a:t>
            </a:r>
            <a:r>
              <a:rPr lang="en-US" dirty="0"/>
              <a:t>. </a:t>
            </a:r>
            <a:r>
              <a:rPr lang="en-US" dirty="0" err="1"/>
              <a:t>Rezultatele</a:t>
            </a:r>
            <a:r>
              <a:rPr lang="en-US" dirty="0"/>
              <a:t> </a:t>
            </a:r>
            <a:r>
              <a:rPr lang="en-US" dirty="0" err="1"/>
              <a:t>algoritmului</a:t>
            </a:r>
            <a:r>
              <a:rPr lang="en-US" dirty="0"/>
              <a:t> K-means clustering sunt: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246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5445B89-B8B4-FE38-E2FF-D3E3F0201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B0B57B5-A526-2B9B-B805-597E2FAB6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Rezultatele</a:t>
            </a:r>
            <a:r>
              <a:rPr lang="en-US" dirty="0"/>
              <a:t> </a:t>
            </a:r>
            <a:r>
              <a:rPr lang="en-US" dirty="0" err="1"/>
              <a:t>algoritmului</a:t>
            </a:r>
            <a:r>
              <a:rPr lang="en-US" dirty="0"/>
              <a:t> K-means clustering sunt:</a:t>
            </a:r>
          </a:p>
          <a:p>
            <a:endParaRPr lang="en-US" dirty="0"/>
          </a:p>
          <a:p>
            <a:r>
              <a:rPr lang="en-US" dirty="0" err="1"/>
              <a:t>Centroizii</a:t>
            </a:r>
            <a:r>
              <a:rPr lang="en-US" dirty="0"/>
              <a:t> </a:t>
            </a:r>
            <a:r>
              <a:rPr lang="en-US" dirty="0" err="1"/>
              <a:t>celor</a:t>
            </a:r>
            <a:r>
              <a:rPr lang="en-US" dirty="0"/>
              <a:t> K </a:t>
            </a:r>
            <a:r>
              <a:rPr lang="en-US" dirty="0" err="1"/>
              <a:t>grupuri</a:t>
            </a:r>
            <a:r>
              <a:rPr lang="en-US" dirty="0"/>
              <a:t>, care pot fi </a:t>
            </a:r>
            <a:r>
              <a:rPr lang="en-US" dirty="0" err="1"/>
              <a:t>utilizați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eticheta</a:t>
            </a:r>
            <a:r>
              <a:rPr lang="en-US" dirty="0"/>
              <a:t> </a:t>
            </a:r>
            <a:r>
              <a:rPr lang="en-US" dirty="0" err="1"/>
              <a:t>noi</a:t>
            </a:r>
            <a:r>
              <a:rPr lang="en-US" dirty="0"/>
              <a:t> date.</a:t>
            </a:r>
          </a:p>
          <a:p>
            <a:r>
              <a:rPr lang="en-US" dirty="0" err="1"/>
              <a:t>Etichete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de </a:t>
            </a:r>
            <a:r>
              <a:rPr lang="en-US" dirty="0" err="1"/>
              <a:t>antrenament</a:t>
            </a:r>
            <a:r>
              <a:rPr lang="en-US" dirty="0"/>
              <a:t> (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punct</a:t>
            </a:r>
            <a:r>
              <a:rPr lang="en-US" dirty="0"/>
              <a:t> de date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atribuit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singur</a:t>
            </a:r>
            <a:r>
              <a:rPr lang="en-US" dirty="0"/>
              <a:t> </a:t>
            </a:r>
            <a:r>
              <a:rPr lang="en-US" dirty="0" err="1"/>
              <a:t>grup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8236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42B7375-2282-9D08-A206-1D241CF41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EDFF75-CE53-86BA-724E-042B01621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Pasul 1: </a:t>
            </a:r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Numărului</a:t>
            </a:r>
            <a:r>
              <a:rPr lang="en-US" dirty="0"/>
              <a:t> de </a:t>
            </a:r>
            <a:r>
              <a:rPr lang="en-US" dirty="0" err="1"/>
              <a:t>Grupuri</a:t>
            </a:r>
            <a:r>
              <a:rPr lang="en-US" dirty="0"/>
              <a:t> (K)</a:t>
            </a:r>
          </a:p>
          <a:p>
            <a:pPr marL="0" indent="0">
              <a:buNone/>
            </a:pPr>
            <a:r>
              <a:rPr lang="en-US" dirty="0" err="1"/>
              <a:t>Începem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a </a:t>
            </a:r>
            <a:r>
              <a:rPr lang="en-US" dirty="0" err="1"/>
              <a:t>alege</a:t>
            </a:r>
            <a:r>
              <a:rPr lang="en-US" dirty="0"/>
              <a:t> </a:t>
            </a:r>
            <a:r>
              <a:rPr lang="en-US" dirty="0" err="1"/>
              <a:t>numărul</a:t>
            </a:r>
            <a:r>
              <a:rPr lang="en-US" dirty="0"/>
              <a:t> K de </a:t>
            </a:r>
            <a:r>
              <a:rPr lang="en-US" dirty="0" err="1"/>
              <a:t>grupuri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</a:t>
            </a:r>
            <a:r>
              <a:rPr lang="en-US" dirty="0" err="1"/>
              <a:t>dorim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împarțim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5701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2FE888D-5558-76CC-B9D1-11CC82D9D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B825ACA-69B0-54D3-18E1-6D685023C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punct</a:t>
            </a:r>
            <a:r>
              <a:rPr lang="en-US" dirty="0"/>
              <a:t> de date, </a:t>
            </a:r>
            <a:r>
              <a:rPr lang="en-US" dirty="0" err="1"/>
              <a:t>calculează</a:t>
            </a:r>
            <a:r>
              <a:rPr lang="en-US" dirty="0"/>
              <a:t> </a:t>
            </a:r>
            <a:r>
              <a:rPr lang="en-US" dirty="0" err="1"/>
              <a:t>distanța</a:t>
            </a:r>
            <a:r>
              <a:rPr lang="en-US" dirty="0"/>
              <a:t> </a:t>
            </a:r>
            <a:r>
              <a:rPr lang="en-US" dirty="0" err="1"/>
              <a:t>față</a:t>
            </a:r>
            <a:r>
              <a:rPr lang="en-US" dirty="0"/>
              <a:t> de </a:t>
            </a:r>
            <a:r>
              <a:rPr lang="en-US" dirty="0" err="1"/>
              <a:t>fiecare</a:t>
            </a:r>
            <a:r>
              <a:rPr lang="en-US" dirty="0"/>
              <a:t> centroid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atribuie</a:t>
            </a:r>
            <a:r>
              <a:rPr lang="en-US" dirty="0"/>
              <a:t> </a:t>
            </a:r>
            <a:r>
              <a:rPr lang="en-US" dirty="0" err="1"/>
              <a:t>punctul</a:t>
            </a:r>
            <a:r>
              <a:rPr lang="en-US" dirty="0"/>
              <a:t> de date la </a:t>
            </a:r>
            <a:r>
              <a:rPr lang="en-US" dirty="0" err="1"/>
              <a:t>grupul</a:t>
            </a:r>
            <a:r>
              <a:rPr lang="en-US" dirty="0"/>
              <a:t> (</a:t>
            </a:r>
            <a:r>
              <a:rPr lang="en-US" dirty="0" err="1"/>
              <a:t>centroidul</a:t>
            </a:r>
            <a:r>
              <a:rPr lang="en-US" dirty="0"/>
              <a:t>)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apropiat</a:t>
            </a:r>
            <a:r>
              <a:rPr lang="en-US" dirty="0"/>
              <a:t>. De </a:t>
            </a:r>
            <a:r>
              <a:rPr lang="en-US" dirty="0" err="1"/>
              <a:t>obicei</a:t>
            </a:r>
            <a:r>
              <a:rPr lang="en-US" dirty="0"/>
              <a:t>, se </a:t>
            </a:r>
            <a:r>
              <a:rPr lang="en-US" dirty="0" err="1"/>
              <a:t>folosește</a:t>
            </a:r>
            <a:r>
              <a:rPr lang="en-US" dirty="0"/>
              <a:t> </a:t>
            </a:r>
            <a:r>
              <a:rPr lang="en-US" dirty="0" err="1"/>
              <a:t>distanța</a:t>
            </a:r>
            <a:r>
              <a:rPr lang="en-US" dirty="0"/>
              <a:t> </a:t>
            </a:r>
            <a:r>
              <a:rPr lang="en-US" dirty="0" err="1"/>
              <a:t>euclidiană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calcul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530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DA8AACF-F6D8-677F-B0D1-C810B3041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B378CBC-0308-02B2-582E-1B4CCD437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punctele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atribuite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grup</a:t>
            </a:r>
            <a:r>
              <a:rPr lang="en-US" dirty="0"/>
              <a:t>, </a:t>
            </a:r>
            <a:r>
              <a:rPr lang="en-US" dirty="0" err="1"/>
              <a:t>calculează</a:t>
            </a:r>
            <a:r>
              <a:rPr lang="en-US" dirty="0"/>
              <a:t> </a:t>
            </a:r>
            <a:r>
              <a:rPr lang="en-US" dirty="0" err="1"/>
              <a:t>noile</a:t>
            </a:r>
            <a:r>
              <a:rPr lang="en-US" dirty="0"/>
              <a:t> </a:t>
            </a:r>
            <a:r>
              <a:rPr lang="en-US" dirty="0" err="1"/>
              <a:t>pozitii</a:t>
            </a:r>
            <a:r>
              <a:rPr lang="en-US" dirty="0"/>
              <a:t> ale </a:t>
            </a:r>
            <a:r>
              <a:rPr lang="en-US" dirty="0" err="1"/>
              <a:t>centroizilor</a:t>
            </a:r>
            <a:r>
              <a:rPr lang="en-US" dirty="0"/>
              <a:t> </a:t>
            </a:r>
            <a:r>
              <a:rPr lang="en-US" dirty="0" err="1"/>
              <a:t>fiecărui</a:t>
            </a:r>
            <a:r>
              <a:rPr lang="en-US" dirty="0"/>
              <a:t> </a:t>
            </a:r>
            <a:r>
              <a:rPr lang="en-US" dirty="0" err="1"/>
              <a:t>grup</a:t>
            </a:r>
            <a:r>
              <a:rPr lang="en-US" dirty="0"/>
              <a:t>.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lucru</a:t>
            </a:r>
            <a:r>
              <a:rPr lang="en-US" dirty="0"/>
              <a:t> se face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calcularea</a:t>
            </a:r>
            <a:r>
              <a:rPr lang="en-US" dirty="0"/>
              <a:t> </a:t>
            </a:r>
            <a:r>
              <a:rPr lang="en-US" dirty="0" err="1"/>
              <a:t>mediilor</a:t>
            </a:r>
            <a:r>
              <a:rPr lang="en-US" dirty="0"/>
              <a:t> </a:t>
            </a:r>
            <a:r>
              <a:rPr lang="en-US" dirty="0" err="1"/>
              <a:t>aritmetice</a:t>
            </a:r>
            <a:r>
              <a:rPr lang="en-US" dirty="0"/>
              <a:t> ale </a:t>
            </a:r>
            <a:r>
              <a:rPr lang="en-US" dirty="0" err="1"/>
              <a:t>punctelor</a:t>
            </a:r>
            <a:r>
              <a:rPr lang="en-US" dirty="0"/>
              <a:t> de date din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grup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1088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5A54591-7940-C3E2-9763-DD9EFAE8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8314868-A9DC-E6C8-19D4-E6FAEFCC5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punctele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atribuite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grup</a:t>
            </a:r>
            <a:r>
              <a:rPr lang="en-US" dirty="0"/>
              <a:t>, </a:t>
            </a:r>
            <a:r>
              <a:rPr lang="en-US" dirty="0" err="1"/>
              <a:t>calculează</a:t>
            </a:r>
            <a:r>
              <a:rPr lang="en-US" dirty="0"/>
              <a:t> </a:t>
            </a:r>
            <a:r>
              <a:rPr lang="en-US" dirty="0" err="1"/>
              <a:t>noile</a:t>
            </a:r>
            <a:r>
              <a:rPr lang="en-US" dirty="0"/>
              <a:t> </a:t>
            </a:r>
            <a:r>
              <a:rPr lang="en-US" dirty="0" err="1"/>
              <a:t>pozitii</a:t>
            </a:r>
            <a:r>
              <a:rPr lang="en-US" dirty="0"/>
              <a:t> ale </a:t>
            </a:r>
            <a:r>
              <a:rPr lang="en-US" dirty="0" err="1"/>
              <a:t>centroizilor</a:t>
            </a:r>
            <a:r>
              <a:rPr lang="en-US" dirty="0"/>
              <a:t> </a:t>
            </a:r>
            <a:r>
              <a:rPr lang="en-US" dirty="0" err="1"/>
              <a:t>fiecărui</a:t>
            </a:r>
            <a:r>
              <a:rPr lang="en-US" dirty="0"/>
              <a:t> </a:t>
            </a:r>
            <a:r>
              <a:rPr lang="en-US" dirty="0" err="1"/>
              <a:t>grup</a:t>
            </a:r>
            <a:r>
              <a:rPr lang="en-US" dirty="0"/>
              <a:t>.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lucru</a:t>
            </a:r>
            <a:r>
              <a:rPr lang="en-US" dirty="0"/>
              <a:t> se face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calcularea</a:t>
            </a:r>
            <a:r>
              <a:rPr lang="en-US" dirty="0"/>
              <a:t> </a:t>
            </a:r>
            <a:r>
              <a:rPr lang="en-US" dirty="0" err="1"/>
              <a:t>mediilor</a:t>
            </a:r>
            <a:r>
              <a:rPr lang="en-US" dirty="0"/>
              <a:t> </a:t>
            </a:r>
            <a:r>
              <a:rPr lang="en-US" dirty="0" err="1"/>
              <a:t>aritmetice</a:t>
            </a:r>
            <a:r>
              <a:rPr lang="en-US" dirty="0"/>
              <a:t> ale </a:t>
            </a:r>
            <a:r>
              <a:rPr lang="en-US" dirty="0" err="1"/>
              <a:t>punctelor</a:t>
            </a:r>
            <a:r>
              <a:rPr lang="en-US" dirty="0"/>
              <a:t> de date din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grup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3684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8FA06A2-24F7-3C15-42A2-8B93C4746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18E9159-4D1F-2F1A-87FE-4BCBDD625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Repetă</a:t>
            </a:r>
            <a:r>
              <a:rPr lang="en-US" dirty="0"/>
              <a:t> </a:t>
            </a:r>
            <a:r>
              <a:rPr lang="en-US" dirty="0" err="1"/>
              <a:t>atribuirea</a:t>
            </a:r>
            <a:r>
              <a:rPr lang="en-US" dirty="0"/>
              <a:t> </a:t>
            </a:r>
            <a:r>
              <a:rPr lang="en-US" dirty="0" err="1"/>
              <a:t>punctelor</a:t>
            </a:r>
            <a:r>
              <a:rPr lang="en-US" dirty="0"/>
              <a:t> de date la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apropiat</a:t>
            </a:r>
            <a:r>
              <a:rPr lang="en-US" dirty="0"/>
              <a:t> centroid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actualizarea</a:t>
            </a:r>
            <a:r>
              <a:rPr lang="en-US" dirty="0"/>
              <a:t> </a:t>
            </a:r>
            <a:r>
              <a:rPr lang="en-US" dirty="0" err="1"/>
              <a:t>centroizilor</a:t>
            </a:r>
            <a:r>
              <a:rPr lang="en-US" dirty="0"/>
              <a:t> </a:t>
            </a:r>
            <a:r>
              <a:rPr lang="en-US" dirty="0" err="1"/>
              <a:t>până</a:t>
            </a:r>
            <a:r>
              <a:rPr lang="en-US" dirty="0"/>
              <a:t> </a:t>
            </a:r>
            <a:r>
              <a:rPr lang="en-US" dirty="0" err="1"/>
              <a:t>când</a:t>
            </a:r>
            <a:r>
              <a:rPr lang="en-US" dirty="0"/>
              <a:t>:</a:t>
            </a:r>
          </a:p>
          <a:p>
            <a:r>
              <a:rPr lang="en-US" dirty="0" err="1"/>
              <a:t>Centroizii</a:t>
            </a:r>
            <a:r>
              <a:rPr lang="en-US" dirty="0"/>
              <a:t> nu se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schimbă</a:t>
            </a:r>
            <a:r>
              <a:rPr lang="en-US" dirty="0"/>
              <a:t> (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schimbarea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sub o </a:t>
            </a:r>
            <a:r>
              <a:rPr lang="en-US" dirty="0" err="1"/>
              <a:t>anumită</a:t>
            </a:r>
            <a:r>
              <a:rPr lang="en-US" dirty="0"/>
              <a:t> </a:t>
            </a:r>
            <a:r>
              <a:rPr lang="en-US" dirty="0" err="1"/>
              <a:t>toleranță</a:t>
            </a:r>
            <a:r>
              <a:rPr lang="en-US" dirty="0"/>
              <a:t>).</a:t>
            </a:r>
          </a:p>
          <a:p>
            <a:r>
              <a:rPr lang="en-US" dirty="0" err="1"/>
              <a:t>Numărul</a:t>
            </a:r>
            <a:r>
              <a:rPr lang="en-US" dirty="0"/>
              <a:t> maxim de </a:t>
            </a:r>
            <a:r>
              <a:rPr lang="en-US" dirty="0" err="1"/>
              <a:t>iterații</a:t>
            </a:r>
            <a:r>
              <a:rPr lang="en-US" dirty="0"/>
              <a:t>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atins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9245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AA4ECB-C8F0-3CDC-5723-AD5F1633F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4149B43-8D12-6B0D-9F72-717421403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5057C8AA-DD89-23CB-39EF-6CE952C90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845"/>
            <a:ext cx="12192000" cy="559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816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BA4C465-F61A-6F42-F106-BB5593F61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ubstituent conținut 4">
            <a:extLst>
              <a:ext uri="{FF2B5EF4-FFF2-40B4-BE49-F238E27FC236}">
                <a16:creationId xmlns:a16="http://schemas.microsoft.com/office/drawing/2014/main" id="{DBDAE037-4F4E-A5AC-6035-6E69B16A9C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3568" y="1825625"/>
            <a:ext cx="7224863" cy="4351338"/>
          </a:xfrm>
        </p:spPr>
      </p:pic>
    </p:spTree>
    <p:extLst>
      <p:ext uri="{BB962C8B-B14F-4D97-AF65-F5344CB8AC3E}">
        <p14:creationId xmlns:p14="http://schemas.microsoft.com/office/powerpoint/2010/main" val="1589488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2089513-096B-2E11-9AD8-71703F7BC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ubstituent conținut 4">
            <a:extLst>
              <a:ext uri="{FF2B5EF4-FFF2-40B4-BE49-F238E27FC236}">
                <a16:creationId xmlns:a16="http://schemas.microsoft.com/office/drawing/2014/main" id="{BA00DB22-90C0-E70A-EE9C-C19C3082D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3997" y="1825625"/>
            <a:ext cx="10264006" cy="4351338"/>
          </a:xfrm>
        </p:spPr>
      </p:pic>
    </p:spTree>
    <p:extLst>
      <p:ext uri="{BB962C8B-B14F-4D97-AF65-F5344CB8AC3E}">
        <p14:creationId xmlns:p14="http://schemas.microsoft.com/office/powerpoint/2010/main" val="3744969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DE7DF89-93FD-9C77-A28B-FCADACC75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ubstituent conținut 4">
            <a:extLst>
              <a:ext uri="{FF2B5EF4-FFF2-40B4-BE49-F238E27FC236}">
                <a16:creationId xmlns:a16="http://schemas.microsoft.com/office/drawing/2014/main" id="{F60A4B49-0475-9CC8-67AD-3C054CF6E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90064"/>
            <a:ext cx="10515600" cy="4222459"/>
          </a:xfrm>
        </p:spPr>
      </p:pic>
    </p:spTree>
    <p:extLst>
      <p:ext uri="{BB962C8B-B14F-4D97-AF65-F5344CB8AC3E}">
        <p14:creationId xmlns:p14="http://schemas.microsoft.com/office/powerpoint/2010/main" val="3136451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8977E71-4769-D5A2-0807-973813205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ubstituent conținut 4">
            <a:extLst>
              <a:ext uri="{FF2B5EF4-FFF2-40B4-BE49-F238E27FC236}">
                <a16:creationId xmlns:a16="http://schemas.microsoft.com/office/drawing/2014/main" id="{095C92A8-D90E-392A-9809-48F703B407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8485" y="1825625"/>
            <a:ext cx="8235029" cy="4351338"/>
          </a:xfrm>
        </p:spPr>
      </p:pic>
    </p:spTree>
    <p:extLst>
      <p:ext uri="{BB962C8B-B14F-4D97-AF65-F5344CB8AC3E}">
        <p14:creationId xmlns:p14="http://schemas.microsoft.com/office/powerpoint/2010/main" val="3381331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EC7741-548F-74C6-F6F1-48F665666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ubstituent conținut 4">
            <a:extLst>
              <a:ext uri="{FF2B5EF4-FFF2-40B4-BE49-F238E27FC236}">
                <a16:creationId xmlns:a16="http://schemas.microsoft.com/office/drawing/2014/main" id="{3BA8D5C2-DBDF-EAD1-1C73-42ECFA7D34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1839" y="1825625"/>
            <a:ext cx="8768321" cy="4351338"/>
          </a:xfrm>
        </p:spPr>
      </p:pic>
    </p:spTree>
    <p:extLst>
      <p:ext uri="{BB962C8B-B14F-4D97-AF65-F5344CB8AC3E}">
        <p14:creationId xmlns:p14="http://schemas.microsoft.com/office/powerpoint/2010/main" val="3508549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DB83C6C-0FF3-B353-7A18-B583C620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C858C81-BB28-B7B7-8804-8BFE43AAA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numărului</a:t>
            </a:r>
            <a:r>
              <a:rPr lang="en-US" dirty="0"/>
              <a:t> </a:t>
            </a:r>
            <a:r>
              <a:rPr lang="en-US" dirty="0" err="1"/>
              <a:t>corect</a:t>
            </a:r>
            <a:r>
              <a:rPr lang="en-US" dirty="0"/>
              <a:t> de K se </a:t>
            </a:r>
            <a:r>
              <a:rPr lang="en-US" dirty="0" err="1"/>
              <a:t>evaluează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un </a:t>
            </a:r>
            <a:r>
              <a:rPr lang="en-US" dirty="0" err="1"/>
              <a:t>parametru</a:t>
            </a:r>
            <a:r>
              <a:rPr lang="en-US" dirty="0"/>
              <a:t> </a:t>
            </a:r>
            <a:r>
              <a:rPr lang="en-US" dirty="0" err="1"/>
              <a:t>cunoscut</a:t>
            </a:r>
            <a:r>
              <a:rPr lang="en-US" dirty="0"/>
              <a:t> sub </a:t>
            </a:r>
            <a:r>
              <a:rPr lang="en-US" dirty="0" err="1"/>
              <a:t>numele</a:t>
            </a:r>
            <a:r>
              <a:rPr lang="en-US" dirty="0"/>
              <a:t> de WCSS,(Within Cluster Sum of Squares). </a:t>
            </a:r>
            <a:r>
              <a:rPr lang="en-US" dirty="0" err="1"/>
              <a:t>Aceasa</a:t>
            </a:r>
            <a:r>
              <a:rPr lang="en-US" dirty="0"/>
              <a:t> </a:t>
            </a:r>
            <a:r>
              <a:rPr lang="en-US" dirty="0" err="1"/>
              <a:t>valoare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trebui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fie </a:t>
            </a:r>
            <a:r>
              <a:rPr lang="en-US" dirty="0" err="1"/>
              <a:t>mică</a:t>
            </a:r>
            <a:r>
              <a:rPr lang="en-US" dirty="0"/>
              <a:t>. </a:t>
            </a:r>
            <a:r>
              <a:rPr lang="en-US" dirty="0" err="1"/>
              <a:t>Iată</a:t>
            </a:r>
            <a:r>
              <a:rPr lang="en-US" dirty="0"/>
              <a:t> </a:t>
            </a:r>
            <a:r>
              <a:rPr lang="en-US" dirty="0" err="1"/>
              <a:t>reprezentarea</a:t>
            </a:r>
            <a:r>
              <a:rPr lang="en-US" dirty="0"/>
              <a:t> </a:t>
            </a:r>
            <a:r>
              <a:rPr lang="en-US" dirty="0" err="1"/>
              <a:t>formulei</a:t>
            </a:r>
            <a:r>
              <a:rPr lang="en-US" dirty="0"/>
              <a:t>, de </a:t>
            </a:r>
            <a:r>
              <a:rPr lang="en-US" dirty="0" err="1"/>
              <a:t>exemplu</a:t>
            </a:r>
            <a:r>
              <a:rPr lang="en-US" dirty="0"/>
              <a:t>, </a:t>
            </a:r>
            <a:r>
              <a:rPr lang="en-US" dirty="0" err="1"/>
              <a:t>când</a:t>
            </a:r>
            <a:r>
              <a:rPr lang="en-US" dirty="0"/>
              <a:t> K = 3: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4B61BEC-9859-0938-038D-DA9817EA0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9" y="4127688"/>
            <a:ext cx="10610049" cy="1861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4850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4777EEF-3C73-E2AD-5C98-B03A59E11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6B324A0-03FE-3FD1-EBF7-74C2FA78E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Metoda</a:t>
            </a:r>
            <a:r>
              <a:rPr lang="en-US" dirty="0"/>
              <a:t> Elbow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alege</a:t>
            </a:r>
            <a:r>
              <a:rPr lang="en-US" dirty="0"/>
              <a:t>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bună</a:t>
            </a:r>
            <a:r>
              <a:rPr lang="en-US" dirty="0"/>
              <a:t> </a:t>
            </a:r>
            <a:r>
              <a:rPr lang="en-US" dirty="0" err="1"/>
              <a:t>valoare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K.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această</a:t>
            </a:r>
            <a:r>
              <a:rPr lang="en-US" dirty="0"/>
              <a:t> </a:t>
            </a:r>
            <a:r>
              <a:rPr lang="en-US" dirty="0" err="1"/>
              <a:t>metodă</a:t>
            </a:r>
            <a:r>
              <a:rPr lang="en-US" dirty="0"/>
              <a:t>, se </a:t>
            </a:r>
            <a:r>
              <a:rPr lang="en-US" dirty="0" err="1"/>
              <a:t>trasează</a:t>
            </a:r>
            <a:r>
              <a:rPr lang="en-US" dirty="0"/>
              <a:t> un </a:t>
            </a:r>
            <a:r>
              <a:rPr lang="en-US" dirty="0" err="1"/>
              <a:t>grafic</a:t>
            </a:r>
            <a:r>
              <a:rPr lang="en-US" dirty="0"/>
              <a:t> al </a:t>
            </a:r>
            <a:r>
              <a:rPr lang="en-US" dirty="0" err="1"/>
              <a:t>valorilor</a:t>
            </a:r>
            <a:r>
              <a:rPr lang="en-US" dirty="0"/>
              <a:t> WCSS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funcție</a:t>
            </a:r>
            <a:r>
              <a:rPr lang="en-US" dirty="0"/>
              <a:t> de </a:t>
            </a:r>
            <a:r>
              <a:rPr lang="en-US" dirty="0" err="1"/>
              <a:t>numărul</a:t>
            </a:r>
            <a:r>
              <a:rPr lang="en-US" dirty="0"/>
              <a:t> de </a:t>
            </a:r>
            <a:r>
              <a:rPr lang="en-US" dirty="0" err="1"/>
              <a:t>clustere</a:t>
            </a:r>
            <a:r>
              <a:rPr lang="en-US" dirty="0"/>
              <a:t> K. Se </a:t>
            </a:r>
            <a:r>
              <a:rPr lang="en-US" dirty="0" err="1"/>
              <a:t>caută</a:t>
            </a:r>
            <a:r>
              <a:rPr lang="en-US" dirty="0"/>
              <a:t> un </a:t>
            </a:r>
            <a:r>
              <a:rPr lang="en-US" dirty="0" err="1"/>
              <a:t>punct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grafic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creșterea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K nu </a:t>
            </a:r>
            <a:r>
              <a:rPr lang="en-US" dirty="0" err="1"/>
              <a:t>mai</a:t>
            </a:r>
            <a:r>
              <a:rPr lang="en-US" dirty="0"/>
              <a:t> duce la o </a:t>
            </a:r>
            <a:r>
              <a:rPr lang="en-US" dirty="0" err="1"/>
              <a:t>scădere</a:t>
            </a:r>
            <a:r>
              <a:rPr lang="en-US" dirty="0"/>
              <a:t> </a:t>
            </a:r>
            <a:r>
              <a:rPr lang="en-US" dirty="0" err="1"/>
              <a:t>semnificativă</a:t>
            </a:r>
            <a:r>
              <a:rPr lang="en-US" dirty="0"/>
              <a:t> a WCSS, </a:t>
            </a:r>
            <a:r>
              <a:rPr lang="en-US" dirty="0" err="1"/>
              <a:t>adică</a:t>
            </a:r>
            <a:r>
              <a:rPr lang="en-US" dirty="0"/>
              <a:t> un </a:t>
            </a:r>
            <a:r>
              <a:rPr lang="en-US" dirty="0" err="1"/>
              <a:t>punct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graficul</a:t>
            </a:r>
            <a:r>
              <a:rPr lang="en-US" dirty="0"/>
              <a:t> </a:t>
            </a:r>
            <a:r>
              <a:rPr lang="en-US" dirty="0" err="1"/>
              <a:t>începe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se </a:t>
            </a:r>
            <a:r>
              <a:rPr lang="en-US" dirty="0" err="1"/>
              <a:t>aplatizeze</a:t>
            </a:r>
            <a:r>
              <a:rPr lang="en-US" dirty="0"/>
              <a:t>, </a:t>
            </a:r>
            <a:r>
              <a:rPr lang="en-US" dirty="0" err="1"/>
              <a:t>formând</a:t>
            </a:r>
            <a:r>
              <a:rPr lang="en-US" dirty="0"/>
              <a:t> un cot.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punct</a:t>
            </a:r>
            <a:r>
              <a:rPr lang="en-US" dirty="0"/>
              <a:t> </a:t>
            </a:r>
            <a:r>
              <a:rPr lang="en-US" dirty="0" err="1"/>
              <a:t>indică</a:t>
            </a:r>
            <a:r>
              <a:rPr lang="en-US" dirty="0"/>
              <a:t> un </a:t>
            </a:r>
            <a:r>
              <a:rPr lang="en-US" dirty="0" err="1"/>
              <a:t>echilibru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numărul</a:t>
            </a:r>
            <a:r>
              <a:rPr lang="en-US" dirty="0"/>
              <a:t> de </a:t>
            </a:r>
            <a:r>
              <a:rPr lang="en-US" dirty="0" err="1"/>
              <a:t>clustere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suma</a:t>
            </a:r>
            <a:r>
              <a:rPr lang="en-US" dirty="0"/>
              <a:t> </a:t>
            </a:r>
            <a:r>
              <a:rPr lang="en-US" dirty="0" err="1"/>
              <a:t>distanțelor</a:t>
            </a:r>
            <a:r>
              <a:rPr lang="en-US" dirty="0"/>
              <a:t> </a:t>
            </a:r>
            <a:r>
              <a:rPr lang="en-US" dirty="0" err="1"/>
              <a:t>pătratice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interiorul</a:t>
            </a:r>
            <a:r>
              <a:rPr lang="en-US" dirty="0"/>
              <a:t> </a:t>
            </a:r>
            <a:r>
              <a:rPr lang="en-US" dirty="0" err="1"/>
              <a:t>clusterelor</a:t>
            </a:r>
            <a:r>
              <a:rPr lang="en-US" dirty="0"/>
              <a:t>, </a:t>
            </a:r>
            <a:r>
              <a:rPr lang="en-US" dirty="0" err="1"/>
              <a:t>sugerând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adăugarea</a:t>
            </a:r>
            <a:r>
              <a:rPr lang="en-US" dirty="0"/>
              <a:t> de </a:t>
            </a:r>
            <a:r>
              <a:rPr lang="en-US" dirty="0" err="1"/>
              <a:t>clustere</a:t>
            </a:r>
            <a:r>
              <a:rPr lang="en-US" dirty="0"/>
              <a:t> </a:t>
            </a:r>
            <a:r>
              <a:rPr lang="en-US" dirty="0" err="1"/>
              <a:t>suplimentare</a:t>
            </a:r>
            <a:r>
              <a:rPr lang="en-US" dirty="0"/>
              <a:t> nu </a:t>
            </a:r>
            <a:r>
              <a:rPr lang="en-US" dirty="0" err="1"/>
              <a:t>îmbunătățește</a:t>
            </a:r>
            <a:r>
              <a:rPr lang="en-US" dirty="0"/>
              <a:t> </a:t>
            </a:r>
            <a:r>
              <a:rPr lang="en-US" dirty="0" err="1"/>
              <a:t>semnificativ</a:t>
            </a:r>
            <a:r>
              <a:rPr lang="en-US" dirty="0"/>
              <a:t> </a:t>
            </a:r>
            <a:r>
              <a:rPr lang="en-US" dirty="0" err="1"/>
              <a:t>modelul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De </a:t>
            </a:r>
            <a:r>
              <a:rPr lang="en-US" dirty="0" err="1"/>
              <a:t>exemplu</a:t>
            </a:r>
            <a:r>
              <a:rPr lang="en-US" dirty="0"/>
              <a:t>,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după</a:t>
            </a:r>
            <a:r>
              <a:rPr lang="en-US" dirty="0"/>
              <a:t> K=3 nu </a:t>
            </a:r>
            <a:r>
              <a:rPr lang="en-US" dirty="0" err="1"/>
              <a:t>există</a:t>
            </a:r>
            <a:r>
              <a:rPr lang="en-US" dirty="0"/>
              <a:t> o </a:t>
            </a:r>
            <a:r>
              <a:rPr lang="en-US" dirty="0" err="1"/>
              <a:t>scădere</a:t>
            </a:r>
            <a:r>
              <a:rPr lang="en-US" dirty="0"/>
              <a:t> </a:t>
            </a:r>
            <a:r>
              <a:rPr lang="en-US" dirty="0" err="1"/>
              <a:t>semnificativă</a:t>
            </a:r>
            <a:r>
              <a:rPr lang="en-US" dirty="0"/>
              <a:t> a WCSS, </a:t>
            </a:r>
            <a:r>
              <a:rPr lang="en-US" dirty="0" err="1"/>
              <a:t>înseamnă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3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potrivit</a:t>
            </a:r>
            <a:r>
              <a:rPr lang="en-US" dirty="0"/>
              <a:t> </a:t>
            </a:r>
            <a:r>
              <a:rPr lang="en-US" dirty="0" err="1"/>
              <a:t>număr</a:t>
            </a:r>
            <a:r>
              <a:rPr lang="en-US" dirty="0"/>
              <a:t> de </a:t>
            </a:r>
            <a:r>
              <a:rPr lang="en-US" dirty="0" err="1"/>
              <a:t>clustere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noastre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9719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1840697-59A7-9725-4762-F0E969D03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6D14D2A-0C99-6D5B-0B5D-00BC8803A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EEF7739-C1C0-232C-2ACC-1B3F13ACD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9944" y="1657350"/>
            <a:ext cx="652700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1714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D4AF765-D1C3-765B-BBC2-44786D7C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AAD4832-6352-F320-8718-7E8223DA6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CustomerID</a:t>
            </a:r>
            <a:r>
              <a:rPr lang="en-US" dirty="0"/>
              <a:t>: Numerical identifier for the customer.</a:t>
            </a:r>
          </a:p>
          <a:p>
            <a:r>
              <a:rPr lang="en-US" dirty="0"/>
              <a:t>Genre: Gender of the customer (Male/Female).</a:t>
            </a:r>
          </a:p>
          <a:p>
            <a:r>
              <a:rPr lang="en-US" dirty="0"/>
              <a:t>Age: Age of the customer.</a:t>
            </a:r>
          </a:p>
          <a:p>
            <a:r>
              <a:rPr lang="en-US" dirty="0" err="1"/>
              <a:t>Annual_Income</a:t>
            </a:r>
            <a:r>
              <a:rPr lang="en-US" dirty="0"/>
              <a:t>_(k$): Annual income of the customer in thousand dollars.</a:t>
            </a:r>
          </a:p>
          <a:p>
            <a:r>
              <a:rPr lang="en-US" dirty="0" err="1"/>
              <a:t>Spending_Score</a:t>
            </a:r>
            <a:r>
              <a:rPr lang="en-US" dirty="0"/>
              <a:t>: A score assigned by the mall based on customer behavior and spending nature.</a:t>
            </a:r>
          </a:p>
        </p:txBody>
      </p:sp>
    </p:spTree>
    <p:extLst>
      <p:ext uri="{BB962C8B-B14F-4D97-AF65-F5344CB8AC3E}">
        <p14:creationId xmlns:p14="http://schemas.microsoft.com/office/powerpoint/2010/main" val="2013920247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</TotalTime>
  <Words>515</Words>
  <Application>Microsoft Office PowerPoint</Application>
  <PresentationFormat>Ecran lat</PresentationFormat>
  <Paragraphs>25</Paragraphs>
  <Slides>18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Gabriela Ene</dc:creator>
  <cp:lastModifiedBy>Gabriela Ene</cp:lastModifiedBy>
  <cp:revision>2</cp:revision>
  <dcterms:created xsi:type="dcterms:W3CDTF">2024-03-17T15:00:33Z</dcterms:created>
  <dcterms:modified xsi:type="dcterms:W3CDTF">2024-03-18T08:18:41Z</dcterms:modified>
</cp:coreProperties>
</file>